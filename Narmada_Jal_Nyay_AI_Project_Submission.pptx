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0CB8D-000B-4CB6-83A9-BC96DE8DB40C}" v="2" dt="2026-08-15T07:55:37.26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 PATEL" userId="712a857f1dff0551" providerId="LiveId" clId="{BB2610A4-4AC2-49DC-964F-BDB3F9A20BE7}"/>
    <pc:docChg chg="custSel modSld">
      <pc:chgData name="FARHAN PATEL" userId="712a857f1dff0551" providerId="LiveId" clId="{BB2610A4-4AC2-49DC-964F-BDB3F9A20BE7}" dt="2026-08-15T08:00:06.221" v="355" actId="1076"/>
      <pc:docMkLst>
        <pc:docMk/>
      </pc:docMkLst>
      <pc:sldChg chg="addSp delSp modSp mod">
        <pc:chgData name="FARHAN PATEL" userId="712a857f1dff0551" providerId="LiveId" clId="{BB2610A4-4AC2-49DC-964F-BDB3F9A20BE7}" dt="2026-08-15T07:56:52.684" v="346" actId="14100"/>
        <pc:sldMkLst>
          <pc:docMk/>
          <pc:sldMk cId="0" sldId="257"/>
        </pc:sldMkLst>
        <pc:spChg chg="mod">
          <ac:chgData name="FARHAN PATEL" userId="712a857f1dff0551" providerId="LiveId" clId="{BB2610A4-4AC2-49DC-964F-BDB3F9A20BE7}" dt="2026-08-15T07:53:37.612" v="71" actId="1076"/>
          <ac:spMkLst>
            <pc:docMk/>
            <pc:sldMk cId="0" sldId="257"/>
            <ac:spMk id="4" creationId="{A828B9EF-C084-F5D4-CA27-75AF7D995640}"/>
          </ac:spMkLst>
        </pc:spChg>
        <pc:spChg chg="add del mod">
          <ac:chgData name="FARHAN PATEL" userId="712a857f1dff0551" providerId="LiveId" clId="{BB2610A4-4AC2-49DC-964F-BDB3F9A20BE7}" dt="2026-08-15T07:55:21.304" v="206"/>
          <ac:spMkLst>
            <pc:docMk/>
            <pc:sldMk cId="0" sldId="257"/>
            <ac:spMk id="5" creationId="{79183949-8B71-F9C2-0D83-37814A6B866A}"/>
          </ac:spMkLst>
        </pc:spChg>
        <pc:graphicFrameChg chg="mod modGraphic">
          <ac:chgData name="FARHAN PATEL" userId="712a857f1dff0551" providerId="LiveId" clId="{BB2610A4-4AC2-49DC-964F-BDB3F9A20BE7}" dt="2026-08-15T07:56:24.201" v="340" actId="20577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mod">
          <ac:chgData name="FARHAN PATEL" userId="712a857f1dff0551" providerId="LiveId" clId="{BB2610A4-4AC2-49DC-964F-BDB3F9A20BE7}" dt="2026-08-15T07:56:52.684" v="346" actId="14100"/>
          <ac:picMkLst>
            <pc:docMk/>
            <pc:sldMk cId="0" sldId="257"/>
            <ac:picMk id="8" creationId="{EB6DDD78-1A5B-2FDD-ACB6-E57DA9E3886B}"/>
          </ac:picMkLst>
        </pc:picChg>
        <pc:picChg chg="del mod">
          <ac:chgData name="FARHAN PATEL" userId="712a857f1dff0551" providerId="LiveId" clId="{BB2610A4-4AC2-49DC-964F-BDB3F9A20BE7}" dt="2026-08-15T07:54:56.285" v="72" actId="478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">
        <pc:chgData name="FARHAN PATEL" userId="712a857f1dff0551" providerId="LiveId" clId="{BB2610A4-4AC2-49DC-964F-BDB3F9A20BE7}" dt="2026-08-15T07:51:49.994" v="7"/>
        <pc:sldMkLst>
          <pc:docMk/>
          <pc:sldMk cId="957564641" sldId="283"/>
        </pc:sldMkLst>
        <pc:spChg chg="mod">
          <ac:chgData name="FARHAN PATEL" userId="712a857f1dff0551" providerId="LiveId" clId="{BB2610A4-4AC2-49DC-964F-BDB3F9A20BE7}" dt="2026-08-15T07:51:16.106" v="3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FARHAN PATEL" userId="712a857f1dff0551" providerId="LiveId" clId="{BB2610A4-4AC2-49DC-964F-BDB3F9A20BE7}" dt="2026-08-15T07:51:48.132" v="5" actId="113"/>
          <ac:spMkLst>
            <pc:docMk/>
            <pc:sldMk cId="957564641" sldId="283"/>
            <ac:spMk id="3" creationId="{FFAB85A1-2169-FF43-3E91-E2E8ADA742FF}"/>
          </ac:spMkLst>
        </pc:spChg>
        <pc:spChg chg="add del mod">
          <ac:chgData name="FARHAN PATEL" userId="712a857f1dff0551" providerId="LiveId" clId="{BB2610A4-4AC2-49DC-964F-BDB3F9A20BE7}" dt="2026-08-15T07:51:49.994" v="7"/>
          <ac:spMkLst>
            <pc:docMk/>
            <pc:sldMk cId="957564641" sldId="283"/>
            <ac:spMk id="4" creationId="{7FA85DED-5540-13C9-5EBB-FA383E6B475A}"/>
          </ac:spMkLst>
        </pc:spChg>
      </pc:sldChg>
      <pc:sldChg chg="addSp delSp modSp mod">
        <pc:chgData name="FARHAN PATEL" userId="712a857f1dff0551" providerId="LiveId" clId="{BB2610A4-4AC2-49DC-964F-BDB3F9A20BE7}" dt="2026-08-15T08:00:06.221" v="355" actId="1076"/>
        <pc:sldMkLst>
          <pc:docMk/>
          <pc:sldMk cId="2506610743" sldId="289"/>
        </pc:sldMkLst>
        <pc:spChg chg="mod">
          <ac:chgData name="FARHAN PATEL" userId="712a857f1dff0551" providerId="LiveId" clId="{BB2610A4-4AC2-49DC-964F-BDB3F9A20BE7}" dt="2026-08-15T08:00:06.221" v="355" actId="1076"/>
          <ac:spMkLst>
            <pc:docMk/>
            <pc:sldMk cId="2506610743" sldId="289"/>
            <ac:spMk id="6" creationId="{C0D36B1A-26C2-CD55-1032-4CB5E4EDF305}"/>
          </ac:spMkLst>
        </pc:spChg>
        <pc:picChg chg="add mod">
          <ac:chgData name="FARHAN PATEL" userId="712a857f1dff0551" providerId="LiveId" clId="{BB2610A4-4AC2-49DC-964F-BDB3F9A20BE7}" dt="2026-08-15T07:59:48.438" v="353" actId="1076"/>
          <ac:picMkLst>
            <pc:docMk/>
            <pc:sldMk cId="2506610743" sldId="289"/>
            <ac:picMk id="3" creationId="{D5725975-CABB-A1EC-E777-01D54DC1A408}"/>
          </ac:picMkLst>
        </pc:picChg>
        <pc:picChg chg="del">
          <ac:chgData name="FARHAN PATEL" userId="712a857f1dff0551" providerId="LiveId" clId="{BB2610A4-4AC2-49DC-964F-BDB3F9A20BE7}" dt="2026-08-15T07:59:16.890" v="347" actId="478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9" y="584598"/>
            <a:ext cx="10515600" cy="750094"/>
          </a:xfrm>
        </p:spPr>
        <p:txBody>
          <a:bodyPr>
            <a:normAutofit/>
          </a:bodyPr>
          <a:lstStyle/>
          <a:p>
            <a:pPr>
              <a:defRPr sz="3200" b="1"/>
            </a:pPr>
            <a:r>
              <a:rPr dirty="0"/>
              <a:t>IBM University Engagement Project Submission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088" y="1551481"/>
            <a:ext cx="10515600" cy="1500187"/>
          </a:xfrm>
        </p:spPr>
        <p:txBody>
          <a:bodyPr/>
          <a:lstStyle/>
          <a:p>
            <a:pPr>
              <a:defRPr sz="2000" b="0"/>
            </a:pPr>
            <a:r>
              <a:rPr dirty="0"/>
              <a:t>“</a:t>
            </a:r>
            <a:r>
              <a:rPr b="1" dirty="0"/>
              <a:t>Narmada Jal </a:t>
            </a:r>
            <a:r>
              <a:rPr b="1" dirty="0" err="1"/>
              <a:t>Nyay</a:t>
            </a:r>
            <a:r>
              <a:rPr b="1" dirty="0"/>
              <a:t> AI: Agentic AI-Powered Canal Water Distribution &amp; Equity Monitor using IBM Granite &amp; </a:t>
            </a:r>
            <a:r>
              <a:rPr b="1" dirty="0" err="1"/>
              <a:t>LangFlow</a:t>
            </a:r>
            <a:r>
              <a:rPr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1995172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r>
                        <a:t>Student Name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Recent Passport Photo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Email ID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Mobile number [WhatsApp]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rPr dirty="0"/>
                        <a:t>[Student Name]</a:t>
                      </a:r>
                      <a:endParaRPr lang="en-US" dirty="0"/>
                    </a:p>
                    <a:p>
                      <a:r>
                        <a:rPr lang="en-IN" dirty="0"/>
                        <a:t>Patel Farhan Hanif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[Upload Passport Photo]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[Student Email ID]</a:t>
                      </a:r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fp0172310@gmail.com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[WhatsApp Mobile Number]</a:t>
                      </a:r>
                      <a:endParaRPr lang="en-US" dirty="0"/>
                    </a:p>
                    <a:p>
                      <a:r>
                        <a:rPr lang="en-IN" dirty="0"/>
                        <a:t>9512668973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543267"/>
            <a:ext cx="1028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dirty="0"/>
              <a:t>Domain of Project – Water Resource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/>
            </a:pPr>
            <a:r>
              <a:t>Project Title – Narmada Jal Nyay AI: Fair Water for Every Farmer – Agentic AI-Powered Canal Water Distribution &amp; Equity Monitor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6DDD78-1A5B-2FDD-ACB6-E57DA9E38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555" y="3904599"/>
            <a:ext cx="825910" cy="862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2400" b="1">
                <a:solidFill>
                  <a:srgbClr val="0F172A"/>
                </a:solidFill>
              </a:defRPr>
            </a:pPr>
            <a:r>
              <a:t>Problem Statement : Narmada Jal Nyay AI</a:t>
            </a:r>
          </a:p>
          <a:p>
            <a:pPr>
              <a:defRPr sz="1000" b="0"/>
            </a:pPr>
            <a:endParaRPr/>
          </a:p>
          <a:p>
            <a:pPr>
              <a:defRPr sz="1800" b="1">
                <a:solidFill>
                  <a:srgbClr val="B91C1C"/>
                </a:solidFill>
              </a:defRPr>
            </a:pPr>
            <a:r>
              <a:t>The Challenge</a:t>
            </a:r>
          </a:p>
          <a:p>
            <a:pPr>
              <a:defRPr sz="1400" b="0"/>
            </a:pPr>
            <a:r>
              <a:t>Unequal and inefficient distribution of Narmada canal water across head-reach and tail-end farmers in Gujarat leads to:</a:t>
            </a:r>
          </a:p>
          <a:p>
            <a:pPr>
              <a:defRPr sz="1400" b="0"/>
            </a:pPr>
            <a:r>
              <a:t>• Severe water shortages and crop stress for tail-end farmers (32% lower delivery than head-reach).</a:t>
            </a:r>
          </a:p>
          <a:p>
            <a:pPr>
              <a:defRPr sz="1400" b="0"/>
            </a:pPr>
            <a:r>
              <a:t>• Inter-community disputes, social tension, and administrative grievances.</a:t>
            </a:r>
          </a:p>
          <a:p>
            <a:pPr>
              <a:defRPr sz="1400" b="0"/>
            </a:pPr>
            <a:r>
              <a:t>• Wasted water due to unoptimized manual sluice gate scheduling.</a:t>
            </a:r>
          </a:p>
          <a:p>
            <a:pPr>
              <a:defRPr sz="1000" b="0"/>
            </a:pPr>
            <a:endParaRPr/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The Objective</a:t>
            </a:r>
          </a:p>
          <a:p>
            <a:pPr>
              <a:defRPr sz="1400" b="0"/>
            </a:pPr>
            <a:r>
              <a:t>Build an AI-powered Agentic Water Management System that delivers equitable water distribution, real-time flow monitoring, dispute mediation, and bilingual guidance for farmers &amp; authorities:</a:t>
            </a:r>
          </a:p>
          <a:p>
            <a:pPr>
              <a:defRPr sz="1400" b="0"/>
            </a:pPr>
            <a:r>
              <a:t>• Equitable Water Scheduling – Priority algorithm with 1.12x equity boost for tail-end farmers.</a:t>
            </a:r>
          </a:p>
          <a:p>
            <a:pPr>
              <a:defRPr sz="1400" b="0"/>
            </a:pPr>
            <a:r>
              <a:t>• Flow Sensor RAG Retrieval – Fetch &amp; summarize live sensor data and historical deficit logs.</a:t>
            </a:r>
          </a:p>
          <a:p>
            <a:pPr>
              <a:defRPr sz="1400" b="0"/>
            </a:pPr>
            <a:r>
              <a:t>• Dispute Detection &amp; Mediation – Auto-classify complaints &amp; draft resolutions via IBM Granite LLM.</a:t>
            </a:r>
          </a:p>
          <a:p>
            <a:pPr>
              <a:defRPr sz="1400" b="0"/>
            </a:pPr>
            <a:r>
              <a:t>• Multilingual Alerts – Instant updates in Gujarati &amp; English via SMS/WhatsApp.</a:t>
            </a:r>
          </a:p>
          <a:p>
            <a:pPr>
              <a:defRPr sz="1000" b="0"/>
            </a:pPr>
            <a:endParaRPr/>
          </a:p>
          <a:p>
            <a:pPr>
              <a:defRPr sz="1600" b="1">
                <a:solidFill>
                  <a:srgbClr val="7C3AED"/>
                </a:solidFill>
              </a:defRPr>
            </a:pPr>
            <a:r>
              <a:t>Multi-Agent System –</a:t>
            </a:r>
          </a:p>
          <a:p>
            <a:pPr>
              <a:defRPr sz="1300" b="0"/>
            </a:pPr>
            <a:r>
              <a:t>1) Canal Flow Monitoring Agent (Detects flow anomalies &amp; telemetry breaches)</a:t>
            </a:r>
          </a:p>
          <a:p>
            <a:pPr>
              <a:defRPr sz="1300" b="0"/>
            </a:pPr>
            <a:r>
              <a:t>2) Equitable Distribution Agent (Calculates priority scores &amp; allocation schedules)</a:t>
            </a:r>
          </a:p>
          <a:p>
            <a:pPr>
              <a:defRPr sz="1300" b="0"/>
            </a:pPr>
            <a:r>
              <a:t>3) Farmer Alert Agent (Generates bilingual Gujarati &amp; English notifications)</a:t>
            </a:r>
          </a:p>
          <a:p>
            <a:pPr>
              <a:defRPr sz="1300" b="0"/>
            </a:pPr>
            <a:r>
              <a:t>4) Dispute Detection &amp; Mediation Agent (Drafts resolutions &amp; performs policy RAG)</a:t>
            </a:r>
          </a:p>
          <a:p>
            <a:pPr>
              <a:defRPr sz="1300" b="0"/>
            </a:pPr>
            <a:r>
              <a:t>5) Irrigation Efficiency Dashboard Agent (Visualizes equity metrics &amp; system health)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t>Problem Statement -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2400" b="1">
                <a:solidFill>
                  <a:srgbClr val="0F172A"/>
                </a:solidFill>
              </a:defRPr>
            </a:pPr>
            <a:r>
              <a:t>Proposed Solution: Narmada Jal Nyay AI</a:t>
            </a:r>
            <a:endParaRPr lang="en-US" b="1"/>
          </a:p>
          <a:p>
            <a:pPr>
              <a:defRPr sz="800" b="0"/>
            </a:pPr>
            <a:endParaRPr lang="en-US" b="1"/>
          </a:p>
          <a:p>
            <a:pPr>
              <a:defRPr sz="1300" b="0"/>
            </a:pPr>
            <a:r>
              <a:t>The proposed solution is a multi-agent AI-powered water management system built using LangFlow, IBM watsonx.ai, and IBM Granite Models to monitor the Narmada canal network, ensure equitable water distribution between head-reach and tail-end farmers, detect disputes, and provide AI insights.</a:t>
            </a:r>
          </a:p>
          <a:p>
            <a:pPr>
              <a:defRPr sz="800" b="0"/>
            </a:pPr>
            <a:endParaRPr/>
          </a:p>
          <a:p>
            <a:pPr>
              <a:defRPr sz="1300" b="0"/>
            </a:pPr>
            <a:r>
              <a:t>At its core, the solution uses a Retrieval-Augmented Generation (RAG) pipeline combined with a deterministic Water Equity Algorithm. Telemetry data and historical logs are stored in a vector database (FAISS/Chroma) and PostgreSQL (narmada.db), enabling IBM Granite models to summarize canal conditions and resolve grievances.</a:t>
            </a:r>
          </a:p>
          <a:p>
            <a:pPr>
              <a:defRPr sz="800" b="0"/>
            </a:pPr>
            <a:endParaRPr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The system consists of five key autonomous agents:</a:t>
            </a:r>
          </a:p>
          <a:p>
            <a:pPr>
              <a:defRPr sz="1300" b="0"/>
            </a:pPr>
            <a:r>
              <a:t>• Canal Flow Monitoring Agent detects flow anomalies and telemetry breaches across canal reaches.</a:t>
            </a:r>
          </a:p>
          <a:p>
            <a:pPr>
              <a:defRPr sz="1300" b="0"/>
            </a:pPr>
            <a:r>
              <a:t>• Equitable Distribution Agent calculates priority scores (Crop Stress × 1.12x Tail Boost × Deficit) to balance head vs. tail equity.</a:t>
            </a:r>
          </a:p>
          <a:p>
            <a:pPr>
              <a:defRPr sz="1300" b="0"/>
            </a:pPr>
            <a:r>
              <a:t>• Farmer Alert Agent translates technical allocation data into simple Gujarati and English SMS/WhatsApp messages.</a:t>
            </a:r>
          </a:p>
          <a:p>
            <a:pPr>
              <a:defRPr sz="1300" b="0"/>
            </a:pPr>
            <a:r>
              <a:t>• Dispute Detection &amp; Mediation Agent analyzes farmer complaints using Granite LLM and historical policy RAG.</a:t>
            </a:r>
          </a:p>
          <a:p>
            <a:pPr>
              <a:defRPr sz="1300" b="0"/>
            </a:pPr>
            <a:r>
              <a:t>• Irrigation Efficiency Dashboard Agent visualizes daily/weekly equity metrics and system health for canal authorities.</a:t>
            </a:r>
          </a:p>
          <a:p>
            <a:pPr>
              <a:defRPr sz="800" b="0"/>
            </a:pPr>
            <a:endParaRPr/>
          </a:p>
          <a:p>
            <a:pPr>
              <a:defRPr sz="1300" b="0"/>
            </a:pPr>
            <a:r>
              <a:t>The solution includes a user-friendly dashboard (built with React + Vite and FastAPI) providing real-time canal maps, simulation controls, and an AI chat assistant. LangFlow orchestrates multi-agent flows, while watsonx.ai ensures scalable IBM Granite 3.2 8B deployment and human-in-the-loop governance for critical sluice gate adjustments (&gt;20%).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t>Proposed Solution -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2400" b="1"/>
            </a:pPr>
            <a:r>
              <a:t>Technology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 b="0"/>
            </a:pPr>
            <a:r>
              <a:t>Langflow Platform – For visually designing, testing, and orchestrating multi-agent workflows across all 5 specialized AI agents.</a:t>
            </a:r>
          </a:p>
          <a:p>
            <a:pPr>
              <a:defRPr sz="800" b="0"/>
            </a:pPr>
            <a:endParaRPr/>
          </a:p>
          <a:p>
            <a:pPr>
              <a:defRPr sz="1400" b="0"/>
            </a:pPr>
            <a:r>
              <a:t>IBM Granite Model – (ibm-granite-3-2-8b / ibm-granite-13b-chat) – For natural language understanding, reasoning, bilingual farmer alert generation (Gujarati &amp; English), and dispute resolution drafting.</a:t>
            </a:r>
          </a:p>
          <a:p>
            <a:pPr>
              <a:defRPr sz="800" b="0"/>
            </a:pPr>
            <a:endParaRPr/>
          </a:p>
          <a:p>
            <a:pPr>
              <a:defRPr sz="1400" b="0"/>
            </a:pPr>
            <a:r>
              <a:t>IBM Cloud – Provides infrastructure to build, deploy, and scale Narmada Jal Nyay AI efficiently via IBM Cloud Code Engine (FastAPI microservices), PostgreSQL database, IBM Cloud Object Storage, and IBM Event Streams (Kafka).</a:t>
            </a:r>
          </a:p>
          <a:p>
            <a:pPr>
              <a:defRPr sz="800" b="0"/>
            </a:pPr>
            <a:endParaRPr/>
          </a:p>
          <a:p>
            <a:pPr>
              <a:defRPr sz="1400" b="0"/>
            </a:pPr>
            <a:r>
              <a:t>RAG (Retrieval-Augmented Generation) – RAG pipeline fetching real canal telemetry, historical water deficit logs, and government water distribution policies for ground-truth accuracy.</a:t>
            </a:r>
          </a:p>
          <a:p>
            <a:pPr>
              <a:defRPr sz="800" b="0"/>
            </a:pPr>
            <a:endParaRPr/>
          </a:p>
          <a:p>
            <a:pPr>
              <a:defRPr sz="1400" b="0"/>
            </a:pPr>
            <a:r>
              <a:t>IBM watsonx.ai – Enterprise platform for model hosting, vector embeddings, prompt management, and AI governance.</a:t>
            </a:r>
          </a:p>
          <a:p>
            <a:pPr>
              <a:defRPr sz="800" b="0"/>
            </a:pPr>
            <a:endParaRPr/>
          </a:p>
          <a:p>
            <a:pPr>
              <a:defRPr sz="1400" b="0"/>
            </a:pPr>
            <a:r>
              <a:t>Vector Database (FAISS / Chroma) – For storing and retrieving dispute resolution precedents, crop water requirements, and canal governance rules.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Langflow Component Used -</a:t>
            </a: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/>
            </a:pPr>
            <a:r>
              <a:t>1) Chat Input – Interface where canal authorities submit scenario commands or farmers input voice/text complaints (Gujarati/English).</a:t>
            </a:r>
            <a:endParaRPr lang="en-US"/>
          </a:p>
          <a:p>
            <a:pPr>
              <a:defRPr sz="600" b="0"/>
            </a:pPr>
            <a:endParaRPr lang="en-US"/>
          </a:p>
          <a:p>
            <a:pPr>
              <a:defRPr sz="1400" b="0"/>
            </a:pPr>
            <a:r>
              <a:t>2) IBM watsonx AI Agent – Processes queries using IBM Granite models to generate fairness recommendations, bilingual alerts, and dispute resolution drafts.</a:t>
            </a:r>
          </a:p>
          <a:p>
            <a:pPr>
              <a:defRPr sz="600" b="0"/>
            </a:pPr>
            <a:endParaRPr/>
          </a:p>
          <a:p>
            <a:pPr>
              <a:defRPr sz="1400" b="0"/>
            </a:pPr>
            <a:r>
              <a:t>3) Name of IBM Granite Model – Granite-3.2-8b-instruct / Granite-13b-chat → Fast, efficient for real-time allocation analysis and multilingual text generation.</a:t>
            </a:r>
          </a:p>
          <a:p>
            <a:pPr>
              <a:defRPr sz="600" b="0"/>
            </a:pPr>
            <a:endParaRPr/>
          </a:p>
          <a:p>
            <a:pPr>
              <a:defRPr sz="1400" b="0"/>
            </a:pPr>
            <a:r>
              <a:t>4) Chat Output – Displays AI-generated responses including water schedules, fairness scores, Gujarati/English farmer alerts, and dispute summaries.</a:t>
            </a:r>
          </a:p>
          <a:p>
            <a:pPr>
              <a:defRPr sz="600" b="0"/>
            </a:pPr>
            <a:endParaRPr/>
          </a:p>
          <a:p>
            <a:pPr>
              <a:defRPr sz="1400" b="0"/>
            </a:pPr>
            <a:r>
              <a:t>5) File / Data Component – Stores and retrieves canal flow telemetry logs, SQLite/PostgreSQL allocation tables (narmada.db), and crop demand benchmarks.</a:t>
            </a:r>
          </a:p>
          <a:p>
            <a:pPr>
              <a:defRPr sz="600" b="0"/>
            </a:pPr>
            <a:endParaRPr/>
          </a:p>
          <a:p>
            <a:pPr>
              <a:defRPr sz="1400" b="0"/>
            </a:pPr>
            <a:r>
              <a:t>6) Custom Python / Equity Component – Executes the deterministic Water Equity Algorithm (Priority Score = Crop Stress × Equity Factor × Deficit Boost × Land Weight).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Langflow Workflow - Narmada Jal Nyay AI</a:t>
            </a:r>
          </a:p>
        </p:txBody>
      </p:sp>
      <p:pic>
        <p:nvPicPr>
          <p:cNvPr id="3" name="Picture 2" descr="langflow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" y="1139263"/>
            <a:ext cx="114681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Architecture Blueprint - Narmada Jal Nyay AI</a:t>
            </a:r>
          </a:p>
        </p:txBody>
      </p:sp>
      <p:pic>
        <p:nvPicPr>
          <p:cNvPr id="3" name="Picture 2" descr="architecture_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" y="675732"/>
            <a:ext cx="1146810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/>
            </a:pPr>
            <a:r>
              <a:t>Role of Agentic AI in the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Role of Agentic AI in Narmada Jal Nyay AI</a:t>
            </a:r>
          </a:p>
          <a:p>
            <a:pPr>
              <a:defRPr sz="1300" b="0"/>
            </a:pPr>
            <a:r>
              <a:t>Agentic AI enables Narmada Jal Nyay AI to function as an intelligent, autonomous water governance network rather than a static monitoring dashboard. Using IBM watsonx.ai and IBM Granite models, it coordinates 5 specialized agents to deliver fair water distribution.</a:t>
            </a:r>
          </a:p>
          <a:p>
            <a:pPr>
              <a:defRPr sz="1300" b="0"/>
            </a:pPr>
            <a:r>
              <a:t>Each agent performs a specific autonomous role—such as flow anomaly detection, priority score calculation, Gujarati alert translation, dispute mediation, and dashboard analytics—working collaboratively without manual intervention.</a:t>
            </a:r>
          </a:p>
          <a:p>
            <a:pPr>
              <a:defRPr sz="1300" b="0"/>
            </a:pPr>
            <a:r>
              <a:t>Agentic AI brings deep context awareness, evaluating real-time canal factors like tail-end deficit history, crop stress, and land area. It applies a 1.12x equity boost to protect vulnerable tail-end farmers.</a:t>
            </a:r>
          </a:p>
          <a:p>
            <a:pPr>
              <a:defRPr sz="1300" b="0"/>
            </a:pPr>
            <a:r>
              <a:t>Crucially, the system incorporates Human-in-the-Loop AI governance: while routine monitoring runs autonomously, critical sluice gate adjustments (&gt;20%) require explicit approval from canal authorities.</a:t>
            </a:r>
          </a:p>
          <a:p>
            <a:pPr>
              <a:defRPr sz="1300" b="0"/>
            </a:pPr>
            <a:r>
              <a:t>Overall, Agentic AI makes the water network proactive, transparent, and goal-driven, ensuring water justice for every farmer.</a:t>
            </a:r>
          </a:p>
        </p:txBody>
      </p:sp>
      <p:pic>
        <p:nvPicPr>
          <p:cNvPr id="4" name="Picture 3" descr="agentic_ai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Token Usage &amp; Performance Analytics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11,761 total tokens executed across multi-agent 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600" b="1"/>
            </a:pPr>
            <a:r>
              <a:t>Before Prompt Optimization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600" b="1"/>
            </a:pPr>
            <a:r>
              <a:t>After Prompt &amp; Vector RAG Optimization</a:t>
            </a:r>
          </a:p>
        </p:txBody>
      </p:sp>
      <p:pic>
        <p:nvPicPr>
          <p:cNvPr id="283" name="Picture 282" descr="token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284" name="Picture 283" descr="token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/>
            </a:pPr>
            <a:r>
              <a:t>Novelty and Uniqueness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/>
            </a:pPr>
            <a:r>
              <a:t>Narmada Jal Nyay AI stands out by combining Agentic AI, RAG, deterministic equity math, and bilingual communication into a single unified platform.</a:t>
            </a:r>
          </a:p>
          <a:p>
            <a:pPr>
              <a:defRPr sz="600" b="0"/>
            </a:pPr>
            <a:endParaRPr/>
          </a:p>
          <a:p>
            <a:pPr>
              <a:defRPr sz="1300" b="0"/>
            </a:pPr>
            <a:r>
              <a:t>Fairness-First Algorithm – Integrates a structural 1.12x equity multiplier for tail-end farmers to compensate for canal head-reach disadvantages.</a:t>
            </a:r>
          </a:p>
          <a:p>
            <a:pPr>
              <a:defRPr sz="1300" b="0"/>
            </a:pPr>
            <a:r>
              <a:t>Deficit Carry-Forward – Automatically tracks historical delivery deficits and compensates under-supplied farmers in subsequent rotation cycles.</a:t>
            </a:r>
          </a:p>
          <a:p>
            <a:pPr>
              <a:defRPr sz="1300" b="0"/>
            </a:pPr>
            <a:r>
              <a:t>Bilingual Agentic AI – First water justice agent offering real-time Gujarati and English assistance via SMS/WhatsApp for local farmers.</a:t>
            </a:r>
          </a:p>
          <a:p>
            <a:pPr>
              <a:defRPr sz="1300" b="0"/>
            </a:pPr>
            <a:r>
              <a:t>Systemic Dispute Prevention – RAG-powered dispute agent detects cluster complaints and recommends gate rebalancing before grievances escalate.</a:t>
            </a:r>
          </a:p>
          <a:p>
            <a:pPr>
              <a:defRPr sz="1300" b="0"/>
            </a:pPr>
            <a:r>
              <a:t>Human-in-the-Loop Governance – Ensures safety by requiring human canal authority approval for critical physical gate adjustments (&gt;20%).</a:t>
            </a:r>
          </a:p>
          <a:p>
            <a:pPr>
              <a:defRPr sz="1300" b="0"/>
            </a:pPr>
            <a:r>
              <a:t>Enterprise-Grade IBM Stack – Built on IBM watsonx.ai, IBM Cloud Code Engine, and Langflow for enterprise security, scalability, and auditability.</a:t>
            </a:r>
          </a:p>
          <a:p>
            <a:pPr>
              <a:defRPr sz="600" b="0"/>
            </a:pPr>
            <a:endParaRPr/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This makes Narmada Jal Nyay AI a proactive, transparent, and adaptive digital water authority promoting sustainable agricultural growth.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Git Hub Link &amp; Submission Deliverables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sz="1800" b="1">
                <a:solidFill>
                  <a:srgbClr val="2563EB"/>
                </a:solidFill>
              </a:defRPr>
            </a:pPr>
            <a:r>
              <a:t>Public GitHub Repository URL: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https://github.com/narmada-jal-nyay-ai/narmada-jal-nyay-ai</a:t>
            </a:r>
          </a:p>
          <a:p>
            <a:pPr>
              <a:defRPr sz="1000" b="0"/>
            </a:pPr>
            <a:endParaRPr/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Tested and Working GitHub Repository – Live Hackathon Prototype</a:t>
            </a:r>
          </a:p>
          <a:p>
            <a:pPr>
              <a:defRPr sz="1000" b="0"/>
            </a:pPr>
            <a:endParaRPr/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Uploaded Required Project Submission Files into GitHub Repository:</a:t>
            </a:r>
          </a:p>
          <a:p>
            <a:pPr>
              <a:defRPr sz="1400" b="0"/>
            </a:pPr>
            <a:r>
              <a:t>1) app.json file – LangFlow Multi-Agent Workflow configuration</a:t>
            </a:r>
          </a:p>
          <a:p>
            <a:pPr>
              <a:defRPr sz="1400" b="0"/>
            </a:pPr>
            <a:r>
              <a:t>2) yourproblemstatement.pdf file – Detailed Narmada Water Justice documentation</a:t>
            </a:r>
          </a:p>
          <a:p>
            <a:pPr>
              <a:defRPr sz="1400" b="0"/>
            </a:pPr>
            <a:r>
              <a:t>3) yourprojectpresentation.pptx file – Narmada Jal Nyay AI Submission Presentation</a:t>
            </a:r>
          </a:p>
          <a:p>
            <a:pPr>
              <a:defRPr sz="1400" b="0"/>
            </a:pPr>
            <a:r>
              <a:t>4) Full Source Code Repository – FastAPI Backend + React Frontend + SQLite narmada.db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2400" b="1"/>
            </a:pPr>
            <a:r>
              <a:t>Future Scope</a:t>
            </a: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sz="1600" b="1">
                <a:solidFill>
                  <a:srgbClr val="2563EB"/>
                </a:solidFill>
              </a:defRPr>
            </a:pPr>
            <a:r>
              <a:t>1. Automated SCADA Sluice Gate Actuation &amp; IoT Integration –</a:t>
            </a:r>
          </a:p>
          <a:p>
            <a:pPr>
              <a:defRPr sz="1400" b="0"/>
            </a:pPr>
            <a:r>
              <a:t>Connecting motorized SCADA sluice gates with telemetry sensors to enable automated, tamper-proof gate opening and closing based on AI allocation schedules.</a:t>
            </a:r>
          </a:p>
          <a:p>
            <a:pPr>
              <a:defRPr sz="1000" b="0"/>
            </a:pPr>
            <a:endParaRPr/>
          </a:p>
          <a:p>
            <a:pPr>
              <a:defRPr sz="1600" b="1">
                <a:solidFill>
                  <a:srgbClr val="7C3AED"/>
                </a:solidFill>
              </a:defRPr>
            </a:pPr>
            <a:r>
              <a:t>2. Satellite Remote Sensing &amp; Crop Stress Analytics –</a:t>
            </a:r>
          </a:p>
          <a:p>
            <a:pPr>
              <a:defRPr sz="1400" b="0"/>
            </a:pPr>
            <a:r>
              <a:t>Leveraging Sentinel-2 and Landsat satellite multispectral imagery to dynamically compute NDVI (Vegetation Index) and soil moisture maps, enabling real-time remote verification of field water demand.</a:t>
            </a:r>
          </a:p>
          <a:p>
            <a:pPr>
              <a:defRPr sz="1000" b="0"/>
            </a:pPr>
            <a:endParaRPr/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3. Regional Dialect Voice AI &amp; Multilingual Voice Notes –</a:t>
            </a:r>
          </a:p>
          <a:p>
            <a:pPr>
              <a:defRPr sz="1400" b="0"/>
            </a:pPr>
            <a:r>
              <a:t>Enhancing the IBM Granite agent with voice-enabled regional Gujarati dialect support (Kathiawari, Surati, Kutchhi) via WhatsApp voice notes for low-literacy farmers.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400" b="1"/>
            </a:pPr>
            <a:r>
              <a:t>Certificates Earned: Credly Certification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800" b="1"/>
            </a:pPr>
            <a:r>
              <a:t>Credly Verified Certificate - IBM watsonx &amp; Agentic AI Mastery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37CFD0-B7FF-D9BE-3433-88E5844E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28" y="1212767"/>
            <a:ext cx="7075219" cy="530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400" b="1"/>
            </a:pPr>
            <a:r>
              <a:t>Certificates Earned: IBM Build on Box (BOB)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505855" y="1066788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800" b="1"/>
            </a:pPr>
            <a:r>
              <a:rPr dirty="0"/>
              <a:t>IBM BOB Certificate - Building Agentic AI Solutions with IBM Granite &amp; </a:t>
            </a:r>
            <a:r>
              <a:rPr dirty="0" err="1"/>
              <a:t>LangFlow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725975-CABB-A1EC-E777-01D54DC1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27" y="2030298"/>
            <a:ext cx="7777939" cy="43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Microsoft Office PowerPoint</Application>
  <PresentationFormat>Widescreen</PresentationFormat>
  <Paragraphs>136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FARHAN PATEL</cp:lastModifiedBy>
  <cp:revision>15</cp:revision>
  <dcterms:created xsi:type="dcterms:W3CDTF">2025-07-08T05:06:56Z</dcterms:created>
  <dcterms:modified xsi:type="dcterms:W3CDTF">2026-08-15T08:00:06Z</dcterms:modified>
</cp:coreProperties>
</file>